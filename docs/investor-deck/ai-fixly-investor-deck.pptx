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463040"/>
            <a:ext cx="9144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0" b="1" spc="-600" kern="0" dirty="0">
                <a:solidFill>
                  <a:srgbClr val="2D2F6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fixly</a:t>
            </a:r>
            <a:endParaRPr lang="en-US" sz="26000" dirty="0"/>
          </a:p>
        </p:txBody>
      </p:sp>
      <p:sp>
        <p:nvSpPr>
          <p:cNvPr id="3" name="Shape 1"/>
          <p:cNvSpPr/>
          <p:nvPr/>
        </p:nvSpPr>
        <p:spPr>
          <a:xfrm>
            <a:off x="7498080" y="457200"/>
            <a:ext cx="10972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0" y="502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54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האובר של תיקוני הבית.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צלם. </a:t>
            </a:r>
            <a:pPr algn="ctr" indent="0" marL="0">
              <a:buNone/>
            </a:pPr>
            <a:r>
              <a:rPr lang="en-US" sz="17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ה-AI מוצא את בעל המקצוע. </a:t>
            </a:r>
            <a:pPr algn="ctr" indent="0" marL="0">
              <a:buNone/>
            </a:pPr>
            <a:r>
              <a:rPr lang="en-US" sz="1700" b="1" dirty="0">
                <a:solidFill>
                  <a:srgbClr val="E5B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הצעות מחיר תוך דקות.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297680" y="3749040"/>
            <a:ext cx="548640" cy="36576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spc="300" kern="0" dirty="0">
                <a:solidFill>
                  <a:srgbClr val="94A3B8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מצגת משקיעים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למצוא בעל מקצוע — עדיין נוראי.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השתנה כלום ב-20 שנה.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21040" y="1645920"/>
            <a:ext cx="274320" cy="274320"/>
          </a:xfrm>
          <a:prstGeom prst="ellipse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0" y="1618488"/>
            <a:ext cx="274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×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15544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טלפון-רולטה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389120" y="18653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מתקשרים ל-5, 3 לא עונים, 2 "אחזור אליך" ונעלמו.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321040" y="2359152"/>
            <a:ext cx="274320" cy="274320"/>
          </a:xfrm>
          <a:prstGeom prst="ellipse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2331720"/>
            <a:ext cx="274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×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22677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מחיר מעורפל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89120" y="257860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מחיר עד שבעל המקצוע בדלת, ואז מאוחר מדי.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321040" y="3072384"/>
            <a:ext cx="274320" cy="274320"/>
          </a:xfrm>
          <a:prstGeom prst="ellipse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3044952"/>
            <a:ext cx="274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×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0" y="29809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טיולי סרק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389120" y="329184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בעל המקצוע מגיע, לא יכול לטפל, גובה דמי קריאה.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321040" y="3785616"/>
            <a:ext cx="274320" cy="274320"/>
          </a:xfrm>
          <a:prstGeom prst="ellipse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3758184"/>
            <a:ext cx="274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×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0" y="36941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אין סיגנל אמון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389120" y="400507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דירוג? ביקורות? שום דבר. בוחרים את מי שעונה.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1554480"/>
            <a:ext cx="3657600" cy="2834640"/>
          </a:xfrm>
          <a:prstGeom prst="roundRect">
            <a:avLst>
              <a:gd name="adj" fmla="val 5806"/>
            </a:avLst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169164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73%</a:t>
            </a:r>
            <a:endParaRPr lang="en-US" sz="9600" dirty="0"/>
          </a:p>
        </p:txBody>
      </p:sp>
      <p:sp>
        <p:nvSpPr>
          <p:cNvPr id="24" name="Text 22"/>
          <p:cNvSpPr/>
          <p:nvPr/>
        </p:nvSpPr>
        <p:spPr>
          <a:xfrm>
            <a:off x="45720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מהישראלים דוחים תיקונים בבית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" y="34290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i="1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 למצוא בעל מקצוע אמין זה פשוט מעצבן מדי.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4069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מחקר פנימי · n=210 · 2025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לחיצה אחת. אפס טפסים.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ה-AI הוא המתווך — הלקוח לא בוחר קטגוריה בעצמו.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53328" y="1527048"/>
            <a:ext cx="1544422" cy="3072384"/>
          </a:xfrm>
          <a:prstGeom prst="roundRect">
            <a:avLst>
              <a:gd name="adj" fmla="val 13025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7" name="Image 0" descr="C:\Users\roeea\OneDrive\Documents\Github\ai-fixly\.claude\worktrees\agitated-zhukovsky-10d815\docs\screenshots\mock-home-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600200"/>
            <a:ext cx="1398118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20640" y="1691640"/>
            <a:ext cx="548640" cy="548640"/>
          </a:xfrm>
          <a:prstGeom prst="ellipse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20640" y="16733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57200" y="1691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אפס חיכוך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57200" y="210312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תמונה + שתי מילים. זה כל הטופס.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120640" y="2651760"/>
            <a:ext cx="548640" cy="548640"/>
          </a:xfrm>
          <a:prstGeom prst="ellipse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26334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57200" y="2651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ה-AI מבין לבד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57200" y="30632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קורא את התמונה, מבין את הבעיה, מוצא את המקצועות הרלוונטיים.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120640" y="3611880"/>
            <a:ext cx="548640" cy="548640"/>
          </a:xfrm>
          <a:prstGeom prst="ellipse">
            <a:avLst/>
          </a:prstGeom>
          <a:solidFill>
            <a:srgbClr val="84A98C"/>
          </a:solidFill>
          <a:ln w="12700">
            <a:solidFill>
              <a:srgbClr val="84A98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120640" y="3593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457200" y="3611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הצעות תוך דקות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57200" y="40233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שליחת ואטספ ל-10+ בעלי מקצוע מקומיים ב-60 שניות.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צד הלקוח: שלושה מסכים, זהו.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4048" y="1344168"/>
            <a:ext cx="1588313" cy="3163824"/>
          </a:xfrm>
          <a:prstGeom prst="roundRect">
            <a:avLst>
              <a:gd name="adj" fmla="val 12666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6" name="Image 0" descr="C:\Users\roeea\OneDrive\Documents\Github\ai-fixly\.claude\worktrees\agitated-zhukovsky-10d815\docs\screenshots\mock-capture-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1442009" cy="3017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" y="4709160"/>
            <a:ext cx="2173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1 · צלם + תאר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777996" y="1344168"/>
            <a:ext cx="1588313" cy="3163824"/>
          </a:xfrm>
          <a:prstGeom prst="roundRect">
            <a:avLst>
              <a:gd name="adj" fmla="val 12666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9" name="Image 1" descr="C:\Users\roeea\OneDrive\Documents\Github\ai-fixly\.claude\worktrees\agitated-zhukovsky-10d815\docs\screenshots\mock-confirm-h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51148" y="1417320"/>
            <a:ext cx="1442009" cy="30175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85388" y="4709160"/>
            <a:ext cx="2173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2 · אשר את ה-AI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171944" y="1344168"/>
            <a:ext cx="1588313" cy="3163824"/>
          </a:xfrm>
          <a:prstGeom prst="roundRect">
            <a:avLst>
              <a:gd name="adj" fmla="val 12666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12" name="Image 2" descr="C:\Users\roeea\OneDrive\Documents\Github\ai-fixly\.claude\worktrees\agitated-zhukovsky-10d815\docs\screenshots\mock-request-details-h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245096" y="1417320"/>
            <a:ext cx="1442009" cy="30175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879336" y="4709160"/>
            <a:ext cx="2173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3 · השווה הצעות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צד בעל המקצוע: פשוט ואטספ.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אפליקציה להתקין. אין אתר להתחבר אליו. אפס עלות הצטרפות.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53328" y="1527048"/>
            <a:ext cx="1544422" cy="3072384"/>
          </a:xfrm>
          <a:prstGeom prst="roundRect">
            <a:avLst>
              <a:gd name="adj" fmla="val 13025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7" name="Image 0" descr="C:\Users\roeea\OneDrive\Documents\Github\ai-fixly\.claude\worktrees\agitated-zhukovsky-10d815\docs\screenshots\mock-whatsapp-msg-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600200"/>
            <a:ext cx="1398118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600200"/>
            <a:ext cx="4572000" cy="621792"/>
          </a:xfrm>
          <a:prstGeom prst="roundRect">
            <a:avLst>
              <a:gd name="adj" fmla="val 17647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956048" y="1600200"/>
            <a:ext cx="73152" cy="621792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645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שולחים DM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191109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תמונות, סיכום AI קצר, לינק "הצע מחיר".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2350008"/>
            <a:ext cx="4572000" cy="621792"/>
          </a:xfrm>
          <a:prstGeom prst="roundRect">
            <a:avLst>
              <a:gd name="adj" fmla="val 17647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956048" y="2350008"/>
            <a:ext cx="73152" cy="621792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הם עונים במחיר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0080" y="266090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לוחצים על הטופס האינטרנטי — שניהם עובדים.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3099816"/>
            <a:ext cx="4572000" cy="621792"/>
          </a:xfrm>
          <a:prstGeom prst="roundRect">
            <a:avLst>
              <a:gd name="adj" fmla="val 17647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956048" y="3099816"/>
            <a:ext cx="73152" cy="621792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31455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אנחנו מפרקים + מסננים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0080" y="34107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הלקוח רואה "בעל מקצוע 1 · 350₪ · מחר 10:00".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3849624"/>
            <a:ext cx="4572000" cy="621792"/>
          </a:xfrm>
          <a:prstGeom prst="roundRect">
            <a:avLst>
              <a:gd name="adj" fmla="val 17647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956048" y="3849624"/>
            <a:ext cx="73152" cy="621792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389534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נבחרת? חושפים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40080" y="41605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הצדדים מקבלים פרטי קשר, לא לפני.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המוצר חי בפרודקשן.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המסכים רצים כרגע על iOS / אנדרואיד / Web.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1435608"/>
            <a:ext cx="1238098" cy="2432304"/>
          </a:xfrm>
          <a:prstGeom prst="roundRect">
            <a:avLst>
              <a:gd name="adj" fmla="val 16248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7" name="Image 0" descr="C:\Users\roeea\OneDrive\Documents\Github\ai-fixly\.claude\worktrees\agitated-zhukovsky-10d815\docs\screenshots\mock-home-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08760"/>
            <a:ext cx="1091794" cy="2286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28600" y="3950208"/>
            <a:ext cx="154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בית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1811528" y="1435608"/>
            <a:ext cx="1238098" cy="2432304"/>
          </a:xfrm>
          <a:prstGeom prst="roundRect">
            <a:avLst>
              <a:gd name="adj" fmla="val 16248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10" name="Image 1" descr="C:\Users\roeea\OneDrive\Documents\Github\ai-fixly\.claude\worktrees\agitated-zhukovsky-10d815\docs\screenshots\mock-my-requests-h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884680" y="1508760"/>
            <a:ext cx="1091794" cy="2286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56080" y="3950208"/>
            <a:ext cx="154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הקריאות שלי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3239008" y="1435608"/>
            <a:ext cx="1238098" cy="2432304"/>
          </a:xfrm>
          <a:prstGeom prst="roundRect">
            <a:avLst>
              <a:gd name="adj" fmla="val 16248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13" name="Image 2" descr="C:\Users\roeea\OneDrive\Documents\Github\ai-fixly\.claude\worktrees\agitated-zhukovsky-10d815\docs\screenshots\mock-request-details-h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312160" y="1508760"/>
            <a:ext cx="1091794" cy="22860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083560" y="3950208"/>
            <a:ext cx="154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הצעות חיות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666488" y="1435608"/>
            <a:ext cx="1238098" cy="2432304"/>
          </a:xfrm>
          <a:prstGeom prst="roundRect">
            <a:avLst>
              <a:gd name="adj" fmla="val 16248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16" name="Image 3" descr="C:\Users\roeea\OneDrive\Documents\Github\ai-fixly\.claude\worktrees\agitated-zhukovsky-10d815\docs\screenshots\mock-selected-h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39640" y="1508760"/>
            <a:ext cx="1091794" cy="22860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511040" y="3950208"/>
            <a:ext cx="154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בעל המקצוע הנבחר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6093968" y="1435608"/>
            <a:ext cx="1238098" cy="2432304"/>
          </a:xfrm>
          <a:prstGeom prst="roundRect">
            <a:avLst>
              <a:gd name="adj" fmla="val 16248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19" name="Image 4" descr="C:\Users\roeea\OneDrive\Documents\Github\ai-fixly\.claude\worktrees\agitated-zhukovsky-10d815\docs\screenshots\mock-whatsapp-msg-he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167120" y="1508760"/>
            <a:ext cx="1091794" cy="22860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938520" y="3950208"/>
            <a:ext cx="154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ואטספ לבעל המקצוע</a:t>
            </a:r>
            <a:endParaRPr lang="en-US" sz="1050" dirty="0"/>
          </a:p>
        </p:txBody>
      </p:sp>
      <p:sp>
        <p:nvSpPr>
          <p:cNvPr id="21" name="Shape 14"/>
          <p:cNvSpPr/>
          <p:nvPr/>
        </p:nvSpPr>
        <p:spPr>
          <a:xfrm>
            <a:off x="7521448" y="1435608"/>
            <a:ext cx="1238098" cy="2432304"/>
          </a:xfrm>
          <a:prstGeom prst="roundRect">
            <a:avLst>
              <a:gd name="adj" fmla="val 16248"/>
            </a:avLst>
          </a:prstGeom>
          <a:solidFill>
            <a:srgbClr val="0A0A0F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28000"/>
              </a:srgbClr>
            </a:outerShdw>
          </a:effectLst>
        </p:spPr>
      </p:sp>
      <p:pic>
        <p:nvPicPr>
          <p:cNvPr id="22" name="Image 5" descr="C:\Users\roeea\OneDrive\Documents\Github\ai-fixly\.claude\worktrees\agitated-zhukovsky-10d815\docs\screenshots\mock-provider-quote-h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594600" y="1508760"/>
            <a:ext cx="1091794" cy="228600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7366000" y="3950208"/>
            <a:ext cx="154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טופס הצעת מחיר</a:t>
            </a:r>
            <a:endParaRPr lang="en-US" sz="1050" dirty="0"/>
          </a:p>
        </p:txBody>
      </p:sp>
      <p:sp>
        <p:nvSpPr>
          <p:cNvPr id="24" name="Shape 1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26" name="Text 18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איך זה בנוי.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Serverless, edge-first, אפס overhead תפעולי.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3931920" cy="960120"/>
          </a:xfrm>
          <a:prstGeom prst="roundRect">
            <a:avLst>
              <a:gd name="adj" fmla="val 11429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315968" y="1600200"/>
            <a:ext cx="73152" cy="960120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70992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20391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2.5 Flash — מולטי-מודאלי (תמונה + טקסט).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600200"/>
            <a:ext cx="3931920" cy="960120"/>
          </a:xfrm>
          <a:prstGeom prst="roundRect">
            <a:avLst>
              <a:gd name="adj" fmla="val 11429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13648" y="1600200"/>
            <a:ext cx="73152" cy="9601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170992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הודעות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20391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Twilio WhatsApp Business API לכל אינטראקציה עם בעלי מקצוע.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3931920" cy="960120"/>
          </a:xfrm>
          <a:prstGeom prst="roundRect">
            <a:avLst>
              <a:gd name="adj" fmla="val 11429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15968" y="2743200"/>
            <a:ext cx="73152" cy="960120"/>
          </a:xfrm>
          <a:prstGeom prst="rect">
            <a:avLst/>
          </a:prstGeom>
          <a:solidFill>
            <a:srgbClr val="84A98C"/>
          </a:solidFill>
          <a:ln w="12700">
            <a:solidFill>
              <a:srgbClr val="84A9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85292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Broker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5800" y="31821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Workers (edge) — חיפוש Places, שידור, webhooks.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2743200"/>
            <a:ext cx="3931920" cy="960120"/>
          </a:xfrm>
          <a:prstGeom prst="roundRect">
            <a:avLst>
              <a:gd name="adj" fmla="val 11429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613648" y="2743200"/>
            <a:ext cx="73152" cy="960120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83480" y="285292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נתונים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983480" y="31821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Firestore + Auth + Storage.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3931920" cy="960120"/>
          </a:xfrm>
          <a:prstGeom prst="roundRect">
            <a:avLst>
              <a:gd name="adj" fmla="val 11429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315968" y="3886200"/>
            <a:ext cx="73152" cy="960120"/>
          </a:xfrm>
          <a:prstGeom prst="rect">
            <a:avLst/>
          </a:prstGeom>
          <a:solidFill>
            <a:srgbClr val="2D2F6E"/>
          </a:solidFill>
          <a:ln w="12700">
            <a:solidFill>
              <a:srgbClr val="2D2F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399592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קליינט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85800" y="43251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Native + Expo Router, אותה אפליקציה גם ל-Web.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3886200"/>
            <a:ext cx="3931920" cy="960120"/>
          </a:xfrm>
          <a:prstGeom prst="roundRect">
            <a:avLst>
              <a:gd name="adj" fmla="val 11429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613648" y="3886200"/>
            <a:ext cx="73152" cy="9601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83480" y="399592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אובזרבביליות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983480" y="43251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Event-sourcing ב-Firestore, Sentry, דשבורד ניהולי.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היתרון שלנו.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המתחרים לא יכולים להעתיק את זה בחצי שנה.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3931920" cy="1325880"/>
          </a:xfrm>
          <a:prstGeom prst="roundRect">
            <a:avLst>
              <a:gd name="adj" fmla="val 8276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315968" y="1554480"/>
            <a:ext cx="73152" cy="1325880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566160" y="1828800"/>
            <a:ext cx="502920" cy="502920"/>
          </a:xfrm>
          <a:prstGeom prst="ellipse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80136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85800" y="18288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אין אפליקציה לבעל מקצוע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" y="22128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מתחרה דורש מבעלי המקצוע להתקין, להירשם, להתחבר. אנחנו משתמשים באפליקציה שהם כבר פותחים 50 פעמים ביום.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1554480"/>
            <a:ext cx="3931920" cy="1325880"/>
          </a:xfrm>
          <a:prstGeom prst="roundRect">
            <a:avLst>
              <a:gd name="adj" fmla="val 8276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522208" y="1554480"/>
            <a:ext cx="73152" cy="132588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0" y="1828800"/>
            <a:ext cx="502920" cy="502920"/>
          </a:xfrm>
          <a:prstGeom prst="ellipse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0" y="180136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✓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892040" y="18288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ה-AI מסווג במקום הלקוח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892040" y="22128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הלקוח לא בוחר קטגוריה. אנחנו קוראים את התמונה ומנתבים. פחות נטישה, התאמה טובה יותר.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063240"/>
            <a:ext cx="3931920" cy="1325880"/>
          </a:xfrm>
          <a:prstGeom prst="roundRect">
            <a:avLst>
              <a:gd name="adj" fmla="val 8276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15968" y="3063240"/>
            <a:ext cx="73152" cy="1325880"/>
          </a:xfrm>
          <a:prstGeom prst="rect">
            <a:avLst/>
          </a:prstGeom>
          <a:solidFill>
            <a:srgbClr val="84A98C"/>
          </a:solidFill>
          <a:ln w="12700">
            <a:solidFill>
              <a:srgbClr val="84A98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66160" y="3337560"/>
            <a:ext cx="502920" cy="502920"/>
          </a:xfrm>
          <a:prstGeom prst="ellipse">
            <a:avLst/>
          </a:prstGeom>
          <a:solidFill>
            <a:srgbClr val="84A98C"/>
          </a:solidFill>
          <a:ln w="12700">
            <a:solidFill>
              <a:srgbClr val="84A9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66160" y="331012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✓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5800" y="33375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הצעות אנונימיות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" y="372160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בעלי מקצוע מתחרים על מחיר וזמינות, לא על מי הכי מהיר להרים טלפון.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3063240"/>
            <a:ext cx="3931920" cy="1325880"/>
          </a:xfrm>
          <a:prstGeom prst="roundRect">
            <a:avLst>
              <a:gd name="adj" fmla="val 8276"/>
            </a:avLst>
          </a:prstGeom>
          <a:solidFill>
            <a:srgbClr val="FBFA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522208" y="3063240"/>
            <a:ext cx="73152" cy="1325880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0" y="3337560"/>
            <a:ext cx="502920" cy="502920"/>
          </a:xfrm>
          <a:prstGeom prst="ellipse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0" y="331012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✓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892040" y="33375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אנחנו השכבה האמצעית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892040" y="372160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בעלות על הזרימה end-to-end. בלי העתק-הדבק מ-ZAP לוואטספ. בלי דליפות ובלי הונאות.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מה לא מרדים אותנו בלילה.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הסיכונים — ואיך אנחנו מנטרלים אותם.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8229600" cy="457200"/>
          </a:xfrm>
          <a:prstGeom prst="rect">
            <a:avLst/>
          </a:prstGeom>
          <a:solidFill>
            <a:srgbClr val="F7F3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13648" y="1554480"/>
            <a:ext cx="73152" cy="457200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1554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נזילות בעלי מקצוע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Cold-start עיר-אחרי-עיר. זריעה ידנית של 50 הראשונים בכל אזור.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084832"/>
            <a:ext cx="8229600" cy="457200"/>
          </a:xfrm>
          <a:prstGeom prst="rect">
            <a:avLst/>
          </a:prstGeom>
          <a:solidFill>
            <a:srgbClr val="FBFA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3648" y="2084832"/>
            <a:ext cx="73152" cy="457200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0" y="20848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מדיניות WhatsApp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208483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תבנית הודעה מאושרת מראש ע"י Meta. Opt-out מובנה בכל הודעה.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615184"/>
            <a:ext cx="8229600" cy="457200"/>
          </a:xfrm>
          <a:prstGeom prst="rect">
            <a:avLst/>
          </a:prstGeom>
          <a:solidFill>
            <a:srgbClr val="F7F3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13648" y="2615184"/>
            <a:ext cx="73152" cy="457200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2615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קבלת אחוז העמלה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261518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חינם לבעלי מקצוע בהשקה — מונטיזציה רק אחרי שהבאנו להם עבודות.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145536"/>
            <a:ext cx="8229600" cy="457200"/>
          </a:xfrm>
          <a:prstGeom prst="rect">
            <a:avLst/>
          </a:prstGeom>
          <a:solidFill>
            <a:srgbClr val="FBFA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13648" y="3145536"/>
            <a:ext cx="73152" cy="457200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0" y="31455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טעויות סיווג של AI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14553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שער human-in-the-loop לסיווגים בוודאות נמוכה.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75888"/>
            <a:ext cx="8229600" cy="457200"/>
          </a:xfrm>
          <a:prstGeom prst="rect">
            <a:avLst/>
          </a:prstGeom>
          <a:solidFill>
            <a:srgbClr val="F7F3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13648" y="3675888"/>
            <a:ext cx="73152" cy="457200"/>
          </a:xfrm>
          <a:prstGeom prst="rect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20640" y="36758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קטגוריה עם אמון נמוך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94360" y="36758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דירוגים + אימות זהות לכל בעל מקצוע, נאכף לפני חשיפת פרטים.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השוק.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שירותי תיקוני בית בישראל — ואז הים התיכון.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46320" y="1600200"/>
            <a:ext cx="3840480" cy="2651760"/>
          </a:xfrm>
          <a:prstGeom prst="roundRect">
            <a:avLst>
              <a:gd name="adj" fmla="val 3448"/>
            </a:avLst>
          </a:prstGeom>
          <a:solidFill>
            <a:srgbClr val="0A0B2E"/>
          </a:solidFill>
          <a:ln w="12700">
            <a:solidFill>
              <a:srgbClr val="0A0B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2011680"/>
            <a:ext cx="2834640" cy="1828800"/>
          </a:xfrm>
          <a:prstGeom prst="roundRect">
            <a:avLst>
              <a:gd name="adj" fmla="val 5000"/>
            </a:avLst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97880" y="242316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43400" y="1764792"/>
            <a:ext cx="292608" cy="292608"/>
          </a:xfrm>
          <a:prstGeom prst="ellipse">
            <a:avLst/>
          </a:prstGeom>
          <a:solidFill>
            <a:srgbClr val="0A0B2E"/>
          </a:solidFill>
          <a:ln w="12700">
            <a:solidFill>
              <a:srgbClr val="0A0B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9164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$4.2B — TAM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07568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הוצאה שנתית בישראל על שירותי בית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43400" y="2587752"/>
            <a:ext cx="292608" cy="292608"/>
          </a:xfrm>
          <a:prstGeom prst="ellipse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51460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$1.1B — SAM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7200" y="289864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עבודות קטנות &lt; ₪2,000 (60% מהעירוני)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3400" y="3410712"/>
            <a:ext cx="292608" cy="292608"/>
          </a:xfrm>
          <a:prstGeom prst="ellipse">
            <a:avLst/>
          </a:prstGeom>
          <a:solidFill>
            <a:srgbClr val="F97066"/>
          </a:solidFill>
          <a:ln w="12700">
            <a:solidFill>
              <a:srgbClr val="F970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3375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$85M — SOM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372160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נתח של 5% בגוש דן + השרון עד שנה 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5262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מסלול התרחבות: ישראל → קפריסין → יוון → פורטוגל. אותו מחסור בכוח אדם, אותה תרבות ואטספ.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מי עוד בשוק?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המתחרים האמיתיים בישראל — ואיפה אנחנו עוקפים אותם.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2926080"/>
        </p:xfrm>
        <a:graphic>
          <a:graphicData uri="http://schemas.openxmlformats.org/drawingml/2006/table">
            <a:tbl>
              <a:tblPr/>
              <a:tblGrid>
                <a:gridCol w="2194560"/>
                <a:gridCol w="1508760"/>
                <a:gridCol w="1508760"/>
                <a:gridCol w="1508760"/>
                <a:gridCol w="150876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BFAF7"/>
                          </a:solidFill>
                          <a:latin typeface="Rubik" pitchFamily="34" charset="0"/>
                          <a:ea typeface="Rubik" pitchFamily="34" charset="-122"/>
                          <a:cs typeface="Rubik" pitchFamily="34" charset="-120"/>
                        </a:rPr>
                        <a:t>ai-fixly</a:t>
                      </a:r>
                      <a:endParaRPr lang="en-US" sz="110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BFAF7"/>
                          </a:solidFill>
                          <a:latin typeface="Rubik" pitchFamily="34" charset="0"/>
                          <a:ea typeface="Rubik" pitchFamily="34" charset="-122"/>
                          <a:cs typeface="Rubik" pitchFamily="34" charset="-120"/>
                        </a:rPr>
                        <a:t>מדרג</a:t>
                      </a:r>
                      <a:endParaRPr lang="en-US" sz="110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BFAF7"/>
                          </a:solidFill>
                          <a:latin typeface="Rubik" pitchFamily="34" charset="0"/>
                          <a:ea typeface="Rubik" pitchFamily="34" charset="-122"/>
                          <a:cs typeface="Rubik" pitchFamily="34" charset="-120"/>
                        </a:rPr>
                        <a:t>המקצוענים</a:t>
                      </a:r>
                      <a:endParaRPr lang="en-US" sz="110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BFAF7"/>
                          </a:solidFill>
                          <a:latin typeface="Rubik" pitchFamily="34" charset="0"/>
                          <a:ea typeface="Rubik" pitchFamily="34" charset="-122"/>
                          <a:cs typeface="Rubik" pitchFamily="34" charset="-120"/>
                        </a:rPr>
                        <a:t>דפי זהב</a:t>
                      </a:r>
                      <a:endParaRPr lang="en-US" sz="110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B4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Rubik" pitchFamily="34" charset="0"/>
                          <a:ea typeface="Rubik" pitchFamily="34" charset="-122"/>
                          <a:cs typeface="Rubik" pitchFamily="34" charset="-120"/>
                        </a:rPr>
                        <a:t>חיכוך הלקוח</a:t>
                      </a:r>
                      <a:endParaRPr lang="en-US" sz="105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970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לחיצה אחת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טופס + שיחות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טופס + שיחות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רולטת טלפון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Rubik" pitchFamily="34" charset="0"/>
                          <a:ea typeface="Rubik" pitchFamily="34" charset="-122"/>
                          <a:cs typeface="Rubik" pitchFamily="34" charset="-120"/>
                        </a:rPr>
                        <a:t>Onboarding לבעל מקצוע</a:t>
                      </a:r>
                      <a:endParaRPr lang="en-US" sz="105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970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שום דבר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הרשמה + אימות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פרופיל באתר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מודעה בתשלום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Rubik" pitchFamily="34" charset="0"/>
                          <a:ea typeface="Rubik" pitchFamily="34" charset="-122"/>
                          <a:cs typeface="Rubik" pitchFamily="34" charset="-120"/>
                        </a:rPr>
                        <a:t>סיווג AI</a:t>
                      </a:r>
                      <a:endParaRPr lang="en-US" sz="105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970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Rubik" pitchFamily="34" charset="0"/>
                          <a:ea typeface="Rubik" pitchFamily="34" charset="-122"/>
                          <a:cs typeface="Rubik" pitchFamily="34" charset="-120"/>
                        </a:rPr>
                        <a:t>הצעות אנונימיות</a:t>
                      </a:r>
                      <a:endParaRPr lang="en-US" sz="105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970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 — שם מיד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 — שם מיד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Rubik" pitchFamily="34" charset="0"/>
                          <a:ea typeface="Rubik" pitchFamily="34" charset="-122"/>
                          <a:cs typeface="Rubik" pitchFamily="34" charset="-120"/>
                        </a:rPr>
                        <a:t>זמן להצעה ראשונה</a:t>
                      </a:r>
                      <a:endParaRPr lang="en-US" sz="105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970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פחות מ-5 דק׳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שעות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שעות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שעות/ימים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Rubik" pitchFamily="34" charset="0"/>
                          <a:ea typeface="Rubik" pitchFamily="34" charset="-122"/>
                          <a:cs typeface="Rubik" pitchFamily="34" charset="-120"/>
                        </a:rPr>
                        <a:t>המתווך בשיחה</a:t>
                      </a:r>
                      <a:endParaRPr lang="en-US" sz="1050" dirty="0">
                        <a:latin typeface="Rubik" charset="0"/>
                        <a:ea typeface="Rubik" charset="0"/>
                        <a:cs typeface="Rubi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970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אנחנו (AI)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הלקוח לבד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הלקוח לבד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הלקוח לבד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A1B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מה כבר בנינו.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עובד. חי. רץ end-to-end בפרודקשן.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0" y="1463040"/>
            <a:ext cx="640080" cy="36576"/>
          </a:xfrm>
          <a:prstGeom prst="rect">
            <a:avLst/>
          </a:prstGeom>
          <a:solidFill>
            <a:srgbClr val="E5B77A"/>
          </a:solidFill>
          <a:ln w="12700">
            <a:solidFill>
              <a:srgbClr val="E5B7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1920240" cy="1600200"/>
          </a:xfrm>
          <a:prstGeom prst="roundRect">
            <a:avLst>
              <a:gd name="adj" fmla="val 8000"/>
            </a:avLst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002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40+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מסכים חיים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 + בעל מקצוע + ניהול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06040" y="1554480"/>
            <a:ext cx="1920240" cy="1600200"/>
          </a:xfrm>
          <a:prstGeom prst="roundRect">
            <a:avLst>
              <a:gd name="adj" fmla="val 8000"/>
            </a:avLst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6002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5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260604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שפות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עברית-ראשונה, אנגלית / ערבית / רוסית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54880" y="1554480"/>
            <a:ext cx="1920240" cy="1600200"/>
          </a:xfrm>
          <a:prstGeom prst="roundRect">
            <a:avLst>
              <a:gd name="adj" fmla="val 8000"/>
            </a:avLst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16002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14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475488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עדכוני OTA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0916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 Update, איטרציות בשטח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903720" y="1554480"/>
            <a:ext cx="1920240" cy="1600200"/>
          </a:xfrm>
          <a:prstGeom prst="roundRect">
            <a:avLst>
              <a:gd name="adj" fmla="val 8000"/>
            </a:avLst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3720" y="16002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100%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690372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BFAF7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שקיפות לניהול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אירוע עקיב end-to-end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0" y="338328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A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סינכרון Firestore real-time + תור offline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338328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A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Cloudflare Worker broker (Twilio, Places, Gemini)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0" y="374904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A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דשבורד ניהולי: קריאות, בעלי מקצוע, התראות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374904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A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EAS builds + OTA updates בשחרור שבועי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0" y="411480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A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Twilio interactive WhatsApp templates (מאושרים)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8640" y="411480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A1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דפי SEO ציבוריים לגילוי אורגני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1B4B"/>
          </a:solidFill>
          <a:ln w="12700">
            <a:solidFill>
              <a:srgbClr val="1A1B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0" y="48691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5B77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ai-fixly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760" y="48691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E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ai-fixly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ai-fixly — מצגת משקיעים</dc:title>
  <dc:subject>מצגת משקיעים: מוצר, שוק, טראקשן, בקשה</dc:subject>
  <dc:creator>ai-fixly</dc:creator>
  <cp:lastModifiedBy>ai-fixly</cp:lastModifiedBy>
  <cp:revision>1</cp:revision>
  <dcterms:created xsi:type="dcterms:W3CDTF">2026-04-24T20:34:03Z</dcterms:created>
  <dcterms:modified xsi:type="dcterms:W3CDTF">2026-04-24T20:34:03Z</dcterms:modified>
</cp:coreProperties>
</file>